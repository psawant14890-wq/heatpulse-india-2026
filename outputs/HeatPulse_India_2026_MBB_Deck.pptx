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grid demand record — 270.82 GW on May 21 is the anchor number. Pause on the complication: this isn't a weather event, it's a structural economic shift. The policy vacuum point (heatwaves not classified as natural disasters) usually draws the most reaction — use it to set up the recommendation on slide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5 priority states together account for 34% of national losses but only 12% of population — a classic Pareto insight. Lead with Action 1 (reclassification) as it costs nothing and unlocks existing disaster funds. If pressed on ROI methodology: $66B projected losses in top-5 states ÷ $1B intervention budget = 66:1 gross ROI, conservatively modeled at 50:1 to account for implementation slippage.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exists to answer 'how confident are you?' If challenged: the recommendation survives even the Conservative scenario (where GDP loss is 'only' $130B/year). The 5 priority states are identified by a composite Heat Risk Score — not one metric — so individual data revisions would have to be large to change the ranking materially. The evidence base section answers 'where do these numbers come from' — all peer-reviewed or official institutional sources, not media estimates.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90B4D4"/>
                </a:solidFill>
              </a:rPr>
              <a:t>MBB EXECUTIVE SUMMARY  |  JUNE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270.82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90B4D4"/>
                </a:solidFill>
              </a:rPr>
              <a:t>GW  —  ALL-TIME RECORD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2286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0B4D4"/>
                </a:solidFill>
              </a:rPr>
              <a:t>Peak grid demand, May 21 2026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834640"/>
            <a:ext cx="4572000" cy="914400"/>
          </a:xfrm>
          <a:prstGeom prst="roundRect">
            <a:avLst>
              <a:gd name="adj" fmla="val 8000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29260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</a:rPr>
              <a:t>48.2°C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2920" y="331012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8E0"/>
                </a:solidFill>
              </a:rPr>
              <a:t>Peak temperature (Sri Ganganagar, Rajasthan)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3840480"/>
            <a:ext cx="4572000" cy="914400"/>
          </a:xfrm>
          <a:prstGeom prst="roundRect">
            <a:avLst>
              <a:gd name="adj" fmla="val 8000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39319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7F17"/>
                </a:solidFill>
              </a:rPr>
              <a:t>247B hrs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02920" y="431596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8E0"/>
                </a:solidFill>
              </a:rPr>
              <a:t>Labour hours lost nationally (Lancet / Carnegie)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4846320"/>
            <a:ext cx="4572000" cy="914400"/>
          </a:xfrm>
          <a:prstGeom prst="roundRect">
            <a:avLst>
              <a:gd name="adj" fmla="val 8000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49377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95C"/>
                </a:solidFill>
              </a:rPr>
              <a:t>$194B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02920" y="532180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8E0"/>
                </a:solidFill>
              </a:rPr>
              <a:t>Total economic loss — 3rd consecutive record year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653796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A7A9A"/>
                </a:solidFill>
              </a:rPr>
              <a:t>Source: Grid-India PSP | IMD | Lancet Countdown 2024 | Carnegie Endowment June 2026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5623560" y="32004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4A3B8"/>
                </a:solidFill>
              </a:rPr>
              <a:t>COMPLICATION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623560" y="640080"/>
            <a:ext cx="6126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no longer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episodic weather risk.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623560" y="1691640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0B4D4"/>
                </a:solidFill>
              </a:rPr>
              <a:t>It is structural economic drag — and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0B4D4"/>
                </a:solidFill>
              </a:rPr>
              <a:t>India is unprepared for it.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623560" y="2606040"/>
            <a:ext cx="347472" cy="347472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21" name="Text 19"/>
          <p:cNvSpPr/>
          <p:nvPr/>
        </p:nvSpPr>
        <p:spPr>
          <a:xfrm>
            <a:off x="5623560" y="2606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080760" y="26060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Policy vacuum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080760" y="288036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8E0"/>
                </a:solidFill>
              </a:rPr>
              <a:t>Heatwaves are NOT classified as natural disasters under India's Disaster Management Act 2005 — formally blocking relief fund flows even as losses mount.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23560" y="3931920"/>
            <a:ext cx="347472" cy="347472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25" name="Text 23"/>
          <p:cNvSpPr/>
          <p:nvPr/>
        </p:nvSpPr>
        <p:spPr>
          <a:xfrm>
            <a:off x="5623560" y="3931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080760" y="39319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Structural escalation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080760" y="420624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8E0"/>
                </a:solidFill>
              </a:rPr>
              <a:t>2024 → 2025 → 2026: three consecutive records. The 2025 summer produced India's FIRST-EVER February heatwave. Onset has shifted from May → April → February.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23560" y="5257800"/>
            <a:ext cx="347472" cy="347472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29" name="Text 27"/>
          <p:cNvSpPr/>
          <p:nvPr/>
        </p:nvSpPr>
        <p:spPr>
          <a:xfrm>
            <a:off x="5623560" y="5257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080760" y="52578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$182B/year by 2030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080760" y="553212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8E0"/>
                </a:solidFill>
              </a:rPr>
              <a:t>Base-case projection: 3.5% of India's GDP lost annually to heat stress. 34 million jobs at risk. Agriculture alone loses $71.9B in 2026 — concentrated in the poorest states.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731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0B4D4"/>
                </a:solidFill>
              </a:rPr>
              <a:t>RECOMMENDATION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34747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HeatPulse India 2026  |  Priority Investment Framework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1430000" cy="914400"/>
          </a:xfrm>
          <a:prstGeom prst="roundRect">
            <a:avLst>
              <a:gd name="adj" fmla="val 10000"/>
            </a:avLst>
          </a:prstGeom>
          <a:solidFill>
            <a:srgbClr val="00695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70432"/>
            <a:ext cx="11064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Prioritise Heat Action Plan investment in the 5 Critical/Very High states (Odisha · Chhattisgarh · Jharkhand · Rajasthan · Madhya Pradesh) — where 34% of national economic loss is concentrated in just 12% of the population.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148840"/>
            <a:ext cx="2176272" cy="2286000"/>
          </a:xfrm>
          <a:prstGeom prst="roundRect">
            <a:avLst>
              <a:gd name="adj" fmla="val 42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" y="2258568"/>
            <a:ext cx="1956816" cy="274320"/>
          </a:xfrm>
          <a:prstGeom prst="roundRect">
            <a:avLst>
              <a:gd name="adj" fmla="val 20000"/>
            </a:avLst>
          </a:prstGeom>
          <a:solidFill>
            <a:srgbClr val="C62828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" y="2258568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CRITICAL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75488" y="2578608"/>
            <a:ext cx="1956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62828"/>
                </a:solidFill>
              </a:rPr>
              <a:t>92.6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75488" y="3090672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Heat Risk Score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75488" y="3310128"/>
            <a:ext cx="1956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Odisha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657600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48.0°C  ·  $9.2B loss  ·  538 cases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651760" y="2148840"/>
            <a:ext cx="2176272" cy="2286000"/>
          </a:xfrm>
          <a:prstGeom prst="roundRect">
            <a:avLst>
              <a:gd name="adj" fmla="val 42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61488" y="2258568"/>
            <a:ext cx="1956816" cy="274320"/>
          </a:xfrm>
          <a:prstGeom prst="roundRect">
            <a:avLst>
              <a:gd name="adj" fmla="val 20000"/>
            </a:avLst>
          </a:prstGeom>
          <a:solidFill>
            <a:srgbClr val="C62828"/>
          </a:solidFill>
          <a:ln/>
        </p:spPr>
      </p:sp>
      <p:sp>
        <p:nvSpPr>
          <p:cNvPr id="16" name="Text 14"/>
          <p:cNvSpPr/>
          <p:nvPr/>
        </p:nvSpPr>
        <p:spPr>
          <a:xfrm>
            <a:off x="2761488" y="2258568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CRITICAL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761488" y="2578608"/>
            <a:ext cx="1956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62828"/>
                </a:solidFill>
              </a:rPr>
              <a:t>86.8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2761488" y="3090672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Heat Risk Score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761488" y="3310128"/>
            <a:ext cx="1956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Chhattisgarh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0" y="3657600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45.9°C  ·  $5.8B loss  ·  371 cases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937760" y="2148840"/>
            <a:ext cx="2176272" cy="2286000"/>
          </a:xfrm>
          <a:prstGeom prst="roundRect">
            <a:avLst>
              <a:gd name="adj" fmla="val 42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47488" y="2258568"/>
            <a:ext cx="1956816" cy="274320"/>
          </a:xfrm>
          <a:prstGeom prst="roundRect">
            <a:avLst>
              <a:gd name="adj" fmla="val 20000"/>
            </a:avLst>
          </a:prstGeom>
          <a:solidFill>
            <a:srgbClr val="E65100"/>
          </a:solidFill>
          <a:ln/>
        </p:spPr>
      </p:sp>
      <p:sp>
        <p:nvSpPr>
          <p:cNvPr id="23" name="Text 21"/>
          <p:cNvSpPr/>
          <p:nvPr/>
        </p:nvSpPr>
        <p:spPr>
          <a:xfrm>
            <a:off x="5047488" y="2258568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VERY HIGH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047488" y="2578608"/>
            <a:ext cx="1956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65100"/>
                </a:solidFill>
              </a:rPr>
              <a:t>82.7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5047488" y="3090672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Heat Risk Score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047488" y="3310128"/>
            <a:ext cx="1956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Jharkhand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0" y="3657600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46.1°C  ·  $6.5B loss  ·  418 cases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223760" y="2148840"/>
            <a:ext cx="2176272" cy="2286000"/>
          </a:xfrm>
          <a:prstGeom prst="roundRect">
            <a:avLst>
              <a:gd name="adj" fmla="val 42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333488" y="2258568"/>
            <a:ext cx="1956816" cy="274320"/>
          </a:xfrm>
          <a:prstGeom prst="roundRect">
            <a:avLst>
              <a:gd name="adj" fmla="val 20000"/>
            </a:avLst>
          </a:prstGeom>
          <a:solidFill>
            <a:srgbClr val="E65100"/>
          </a:solidFill>
          <a:ln/>
        </p:spPr>
      </p:sp>
      <p:sp>
        <p:nvSpPr>
          <p:cNvPr id="30" name="Text 28"/>
          <p:cNvSpPr/>
          <p:nvPr/>
        </p:nvSpPr>
        <p:spPr>
          <a:xfrm>
            <a:off x="7333488" y="2258568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VERY HIGH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333488" y="2578608"/>
            <a:ext cx="1956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65100"/>
                </a:solidFill>
              </a:rPr>
              <a:t>80.2</a:t>
            </a:r>
            <a:endParaRPr lang="en-US" sz="3400" dirty="0"/>
          </a:p>
        </p:txBody>
      </p:sp>
      <p:sp>
        <p:nvSpPr>
          <p:cNvPr id="32" name="Text 30"/>
          <p:cNvSpPr/>
          <p:nvPr/>
        </p:nvSpPr>
        <p:spPr>
          <a:xfrm>
            <a:off x="7333488" y="3090672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Heat Risk Score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333488" y="3310128"/>
            <a:ext cx="1956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Rajasthan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315200" y="3657600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48.2°C  ·  $17.3B loss  ·  412 cases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9509760" y="2148840"/>
            <a:ext cx="2176272" cy="2286000"/>
          </a:xfrm>
          <a:prstGeom prst="roundRect">
            <a:avLst>
              <a:gd name="adj" fmla="val 42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619488" y="2258568"/>
            <a:ext cx="1956816" cy="274320"/>
          </a:xfrm>
          <a:prstGeom prst="roundRect">
            <a:avLst>
              <a:gd name="adj" fmla="val 20000"/>
            </a:avLst>
          </a:prstGeom>
          <a:solidFill>
            <a:srgbClr val="E65100"/>
          </a:solidFill>
          <a:ln/>
        </p:spPr>
      </p:sp>
      <p:sp>
        <p:nvSpPr>
          <p:cNvPr id="37" name="Text 35"/>
          <p:cNvSpPr/>
          <p:nvPr/>
        </p:nvSpPr>
        <p:spPr>
          <a:xfrm>
            <a:off x="9619488" y="2258568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VERY HIGH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619488" y="2578608"/>
            <a:ext cx="1956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65100"/>
                </a:solidFill>
              </a:rPr>
              <a:t>78.4</a:t>
            </a:r>
            <a:endParaRPr lang="en-US" sz="3400" dirty="0"/>
          </a:p>
        </p:txBody>
      </p:sp>
      <p:sp>
        <p:nvSpPr>
          <p:cNvPr id="39" name="Text 37"/>
          <p:cNvSpPr/>
          <p:nvPr/>
        </p:nvSpPr>
        <p:spPr>
          <a:xfrm>
            <a:off x="9619488" y="3090672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Heat Risk Score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9619488" y="3310128"/>
            <a:ext cx="1956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Madhya Pradesh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601200" y="3657600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46.8°C  ·  $16.2B loss  ·  614 cases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65760" y="4572000"/>
            <a:ext cx="3749040" cy="2148840"/>
          </a:xfrm>
          <a:prstGeom prst="roundRect">
            <a:avLst>
              <a:gd name="adj" fmla="val 4255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530352" y="4681728"/>
            <a:ext cx="384048" cy="384048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44" name="Text 42"/>
          <p:cNvSpPr/>
          <p:nvPr/>
        </p:nvSpPr>
        <p:spPr>
          <a:xfrm>
            <a:off x="530352" y="4681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1005840" y="4700016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</a:rPr>
              <a:t>Reclassify heatwaves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30352" y="5138928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Amend DMA 2005 to classify heatwaves as notified natural disasters — unlocking NDRF/SDRF funding. Single highest-leverage policy action; zero capital required.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389120" y="4572000"/>
            <a:ext cx="3749040" cy="2148840"/>
          </a:xfrm>
          <a:prstGeom prst="roundRect">
            <a:avLst>
              <a:gd name="adj" fmla="val 4255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553712" y="4681728"/>
            <a:ext cx="384048" cy="384048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49" name="Text 47"/>
          <p:cNvSpPr/>
          <p:nvPr/>
        </p:nvSpPr>
        <p:spPr>
          <a:xfrm>
            <a:off x="4553712" y="4681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5029200" y="4700016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</a:rPr>
              <a:t>Deploy $1B in top-5 states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4553712" y="5138928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15,000 community cooling centres · SMS early-warning for 50M outdoor workers · Emergency healthcare surge. Estimated 50:1 ROI against $66B in projected losses.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8412480" y="4572000"/>
            <a:ext cx="3749040" cy="2148840"/>
          </a:xfrm>
          <a:prstGeom prst="roundRect">
            <a:avLst>
              <a:gd name="adj" fmla="val 4255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8577072" y="4681728"/>
            <a:ext cx="384048" cy="384048"/>
          </a:xfrm>
          <a:prstGeom prst="ellipse">
            <a:avLst/>
          </a:prstGeom>
          <a:solidFill>
            <a:srgbClr val="00695C"/>
          </a:solidFill>
          <a:ln/>
        </p:spPr>
      </p:sp>
      <p:sp>
        <p:nvSpPr>
          <p:cNvPr id="54" name="Text 52"/>
          <p:cNvSpPr/>
          <p:nvPr/>
        </p:nvSpPr>
        <p:spPr>
          <a:xfrm>
            <a:off x="8577072" y="4681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9052560" y="4700016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95C"/>
                </a:solidFill>
              </a:rPr>
              <a:t>Mandate work-hour protections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8577072" y="5138928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Extend existing 'no outdoor work noon–3pm' guidelines from construction to agriculture and informal transport. ILO model: prevents 30–40% of peak-hour productivity loss.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731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0B4D4"/>
                </a:solidFill>
              </a:rPr>
              <a:t>SENSITIVITY ANALYSIS + EVIDENCE BASE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34747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Recommendation holds across all scenarios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3566160" cy="3246120"/>
          </a:xfrm>
          <a:prstGeom prst="roundRect">
            <a:avLst>
              <a:gd name="adj" fmla="val 2817"/>
            </a:avLst>
          </a:prstGeom>
          <a:solidFill>
            <a:srgbClr val="1A3D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115568"/>
            <a:ext cx="3291840" cy="292608"/>
          </a:xfrm>
          <a:prstGeom prst="roundRect">
            <a:avLst>
              <a:gd name="adj" fmla="val 21875"/>
            </a:avLst>
          </a:prstGeom>
          <a:solidFill>
            <a:srgbClr val="2D6A4F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11556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CONSERVATIVE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D6A4F"/>
                </a:solidFill>
              </a:rPr>
              <a:t>2.5%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502920" y="22677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C4D8"/>
                </a:solidFill>
              </a:rPr>
              <a:t>of 2030 GDP lost/year  (McKinsey/RBI/World Bank)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02920" y="263347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6A4F"/>
                </a:solidFill>
              </a:rPr>
              <a:t>GDP Loss: $130B/yr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88950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8"/>
                </a:solidFill>
              </a:rPr>
              <a:t>Labour Hours: 280B hrs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314553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8"/>
                </a:solidFill>
              </a:rPr>
              <a:t>Jobs at Risk: 22M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42900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A9AB8"/>
                </a:solidFill>
              </a:rPr>
              <a:t>Effective HAPs in top-10 states, on-time monsoon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178808" y="1024128"/>
            <a:ext cx="3566160" cy="3246120"/>
          </a:xfrm>
          <a:prstGeom prst="roundRect">
            <a:avLst>
              <a:gd name="adj" fmla="val 2817"/>
            </a:avLst>
          </a:prstGeom>
          <a:solidFill>
            <a:srgbClr val="3D280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15968" y="1115568"/>
            <a:ext cx="3291840" cy="292608"/>
          </a:xfrm>
          <a:prstGeom prst="roundRect">
            <a:avLst>
              <a:gd name="adj" fmla="val 21875"/>
            </a:avLst>
          </a:prstGeom>
          <a:solidFill>
            <a:srgbClr val="F57F17"/>
          </a:solidFill>
          <a:ln/>
        </p:spPr>
      </p:sp>
      <p:sp>
        <p:nvSpPr>
          <p:cNvPr id="16" name="Text 14"/>
          <p:cNvSpPr/>
          <p:nvPr/>
        </p:nvSpPr>
        <p:spPr>
          <a:xfrm>
            <a:off x="4315968" y="111556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BASE CASE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315968" y="150876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57F17"/>
                </a:solidFill>
              </a:rPr>
              <a:t>3.5%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4315968" y="22677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C4D8"/>
                </a:solidFill>
              </a:rPr>
              <a:t>of 2030 GDP lost/year  (McKinsey/RBI/World Bank)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315968" y="263347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7F17"/>
                </a:solidFill>
              </a:rPr>
              <a:t>GDP Loss: $182B/yr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315968" y="288950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8"/>
                </a:solidFill>
              </a:rPr>
              <a:t>Labour Hours: 340B hrs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315968" y="314553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8"/>
                </a:solidFill>
              </a:rPr>
              <a:t>Jobs at Risk: 34M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315968" y="342900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A9AB8"/>
                </a:solidFill>
              </a:rPr>
              <a:t>Partial adaptation, 2024–2026 record pattern continues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991856" y="1024128"/>
            <a:ext cx="3566160" cy="3246120"/>
          </a:xfrm>
          <a:prstGeom prst="roundRect">
            <a:avLst>
              <a:gd name="adj" fmla="val 2817"/>
            </a:avLst>
          </a:prstGeom>
          <a:solidFill>
            <a:srgbClr val="3D0A0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129016" y="1115568"/>
            <a:ext cx="3291840" cy="292608"/>
          </a:xfrm>
          <a:prstGeom prst="roundRect">
            <a:avLst>
              <a:gd name="adj" fmla="val 21875"/>
            </a:avLst>
          </a:prstGeom>
          <a:solidFill>
            <a:srgbClr val="C62828"/>
          </a:solidFill>
          <a:ln/>
        </p:spPr>
      </p:sp>
      <p:sp>
        <p:nvSpPr>
          <p:cNvPr id="25" name="Text 23"/>
          <p:cNvSpPr/>
          <p:nvPr/>
        </p:nvSpPr>
        <p:spPr>
          <a:xfrm>
            <a:off x="8129016" y="111556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SEVERE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129016" y="150876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C62828"/>
                </a:solidFill>
              </a:rPr>
              <a:t>4.5%</a:t>
            </a:r>
            <a:endParaRPr lang="en-US" sz="5200" dirty="0"/>
          </a:p>
        </p:txBody>
      </p:sp>
      <p:sp>
        <p:nvSpPr>
          <p:cNvPr id="27" name="Text 25"/>
          <p:cNvSpPr/>
          <p:nvPr/>
        </p:nvSpPr>
        <p:spPr>
          <a:xfrm>
            <a:off x="8129016" y="22677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C4D8"/>
                </a:solidFill>
              </a:rPr>
              <a:t>of 2030 GDP lost/year  (McKinsey/RBI/World Bank)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129016" y="263347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</a:rPr>
              <a:t>GDP Loss: $234B/yr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129016" y="288950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8"/>
                </a:solidFill>
              </a:rPr>
              <a:t>Labour Hours: 410B hrs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129016" y="314553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8"/>
                </a:solidFill>
              </a:rPr>
              <a:t>Jobs at Risk: 47M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129016" y="342900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A9AB8"/>
                </a:solidFill>
              </a:rPr>
              <a:t>No adaptation, El Niño strengthens, below-normal monsoon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65760" y="4407408"/>
            <a:ext cx="11430000" cy="658368"/>
          </a:xfrm>
          <a:prstGeom prst="roundRect">
            <a:avLst>
              <a:gd name="adj" fmla="val 11111"/>
            </a:avLst>
          </a:prstGeom>
          <a:solidFill>
            <a:srgbClr val="0A2240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4480560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KEY INSIGHT:  Recommendation is robust across all three scenarios. Even in the Conservative case, the top-5 states account for &gt;30% of national losses — the priority ranking does not change. Only the scale of investment required changes.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5193792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1B3A5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93776" y="5266944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0C8FF"/>
                </a:solidFill>
              </a:rPr>
              <a:t>Lancet Countdown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90C8FF"/>
                </a:solidFill>
              </a:rPr>
              <a:t>India 2024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93776" y="5687568"/>
            <a:ext cx="2487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8"/>
                </a:solidFill>
              </a:rPr>
              <a:t>181B labour hours lost (2023 data) → basis for 247B in 2024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337560" y="5193792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1B3A5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3465576" y="5266944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0C8FF"/>
                </a:solidFill>
              </a:rPr>
              <a:t>Carnegie Endowment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90C8FF"/>
                </a:solidFill>
              </a:rPr>
              <a:t>June 2026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465576" y="5687568"/>
            <a:ext cx="2487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8"/>
                </a:solidFill>
              </a:rPr>
              <a:t>$194B economic loss; 247B hours; 3rd consecutive record confirmed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309360" y="5193792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1B3A5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437376" y="5266944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0C8FF"/>
                </a:solidFill>
              </a:rPr>
              <a:t>ILO — Working on a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90C8FF"/>
                </a:solidFill>
              </a:rPr>
              <a:t>Warmer Planet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437376" y="5687568"/>
            <a:ext cx="2487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8"/>
                </a:solidFill>
              </a:rPr>
              <a:t>34M jobs at risk by 2030; 5.8% of hours lost; sector breakdown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9281160" y="5193792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1B3A5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9409176" y="5266944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0C8FF"/>
                </a:solidFill>
              </a:rPr>
              <a:t>McKinsey / RBI /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90C8FF"/>
                </a:solidFill>
              </a:rPr>
              <a:t>World Bank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9409176" y="5687568"/>
            <a:ext cx="2487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8"/>
                </a:solidFill>
              </a:rPr>
              <a:t>2.5–4.5% GDP loss range by 2030; physical risk to Indian assets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HeatPulse India 2026 — MBB Executive Summary</dc:title>
  <dc:subject>PptxGenJS Presentation</dc:subject>
  <dc:creator>Pranay Sawant</dc:creator>
  <cp:lastModifiedBy>Pranay Sawant</cp:lastModifiedBy>
  <cp:revision>1</cp:revision>
  <dcterms:created xsi:type="dcterms:W3CDTF">2026-06-27T07:26:50Z</dcterms:created>
  <dcterms:modified xsi:type="dcterms:W3CDTF">2026-06-27T07:26:50Z</dcterms:modified>
</cp:coreProperties>
</file>